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sldIdLst>
    <p:sldId id="257" r:id="rId3"/>
    <p:sldId id="259" r:id="rId4"/>
    <p:sldId id="273" r:id="rId5"/>
    <p:sldId id="274" r:id="rId6"/>
    <p:sldId id="275" r:id="rId7"/>
    <p:sldId id="276" r:id="rId8"/>
    <p:sldId id="277" r:id="rId9"/>
    <p:sldId id="278" r:id="rId10"/>
    <p:sldId id="286" r:id="rId11"/>
    <p:sldId id="279" r:id="rId12"/>
    <p:sldId id="280" r:id="rId13"/>
    <p:sldId id="281" r:id="rId14"/>
    <p:sldId id="282" r:id="rId15"/>
    <p:sldId id="28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57" d="100"/>
          <a:sy n="57" d="100"/>
        </p:scale>
        <p:origin x="82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EFC4823-B8C2-4F18-A879-E71C53C3A577}"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FC4823-B8C2-4F18-A879-E71C53C3A577}"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FC4823-B8C2-4F18-A879-E71C53C3A577}"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EFC4823-B8C2-4F18-A879-E71C53C3A577}" type="datetimeFigureOut">
              <a:rPr lang="en-IN" smtClean="0"/>
              <a:t>11-06-2025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EFC4823-B8C2-4F18-A879-E71C53C3A577}" type="datetimeFigureOut">
              <a:rPr lang="en-IN" smtClean="0"/>
              <a:t>11-06-2025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EFC4823-B8C2-4F18-A879-E71C53C3A577}" type="datetimeFigureOut">
              <a:rPr lang="en-IN" smtClean="0"/>
              <a:t>11-06-2025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FC4823-B8C2-4F18-A879-E71C53C3A577}" type="datetimeFigureOut">
              <a:rPr lang="en-IN" smtClean="0"/>
              <a:t>11-06-2025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FC4823-B8C2-4F18-A879-E71C53C3A577}" type="datetimeFigureOut">
              <a:rPr lang="en-IN" smtClean="0"/>
              <a:t>11-06-2025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FC4823-B8C2-4F18-A879-E71C53C3A577}" type="datetimeFigureOut">
              <a:rPr lang="en-IN" smtClean="0"/>
              <a:t>11-06-2025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FC4823-B8C2-4F18-A879-E71C53C3A577}"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FC4823-B8C2-4F18-A879-E71C53C3A577}"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EFC4823-B8C2-4F18-A879-E71C53C3A577}"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FC4823-B8C2-4F18-A879-E71C53C3A577}"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FC4823-B8C2-4F18-A879-E71C53C3A577}"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EFC4823-B8C2-4F18-A879-E71C53C3A577}" type="datetimeFigureOut">
              <a:rPr lang="en-IN" smtClean="0"/>
              <a:t>11-06-2025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EFC4823-B8C2-4F18-A879-E71C53C3A577}" type="datetimeFigureOut">
              <a:rPr lang="en-IN" smtClean="0"/>
              <a:t>11-06-2025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EFC4823-B8C2-4F18-A879-E71C53C3A577}" type="datetimeFigureOut">
              <a:rPr lang="en-IN" smtClean="0"/>
              <a:t>11-06-2025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FC4823-B8C2-4F18-A879-E71C53C3A577}" type="datetimeFigureOut">
              <a:rPr lang="en-IN" smtClean="0"/>
              <a:t>11-06-2025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FC4823-B8C2-4F18-A879-E71C53C3A577}" type="datetimeFigureOut">
              <a:rPr lang="en-IN" smtClean="0"/>
              <a:t>11-06-2025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FC4823-B8C2-4F18-A879-E71C53C3A577}" type="datetimeFigureOut">
              <a:rPr lang="en-IN" smtClean="0"/>
              <a:t>11-06-2025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FC4823-B8C2-4F18-A879-E71C53C3A577}"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FC4823-B8C2-4F18-A879-E71C53C3A577}"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FC4823-B8C2-4F18-A879-E71C53C3A577}" type="datetimeFigureOut">
              <a:rPr lang="en-IN" smtClean="0"/>
              <a:t>11-06-2025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75FA67-658C-4647-8032-C6B44CF2C9B4}"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FC4823-B8C2-4F18-A879-E71C53C3A577}" type="datetimeFigureOut">
              <a:rPr lang="en-IN" smtClean="0"/>
              <a:t>11-06-2025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75FA67-658C-4647-8032-C6B44CF2C9B4}"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pic>
        <p:nvPicPr>
          <p:cNvPr id="1026" name="Picture 2" descr="https://static.vecteezy.com/system/resources/previews/011/430/978/non_2x/sales-pitch-data-visualization-element-marketing-chart-research-data-business-statistics-financial-report-company-performance-analysis-concept-flat-modern-illustration-vect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56" y="1037386"/>
            <a:ext cx="6338986" cy="422599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281746" y="2374124"/>
            <a:ext cx="4527395" cy="676532"/>
          </a:xfrm>
          <a:prstGeom prst="rect">
            <a:avLst/>
          </a:prstGeom>
          <a:noFill/>
        </p:spPr>
        <p:txBody>
          <a:bodyPr wrap="square" rtlCol="0">
            <a:spAutoFit/>
          </a:bodyPr>
          <a:lstStyle/>
          <a:p>
            <a:pPr>
              <a:lnSpc>
                <a:spcPct val="150000"/>
              </a:lnSpc>
            </a:pPr>
            <a:r>
              <a:rPr lang="en-GB" sz="2800" b="1" dirty="0"/>
              <a:t>NETFLIX DATA ANALYSIS</a:t>
            </a:r>
            <a:endParaRPr lang="en-IN" sz="2800" b="1" dirty="0"/>
          </a:p>
        </p:txBody>
      </p:sp>
      <p:sp>
        <p:nvSpPr>
          <p:cNvPr id="8" name="TextBox 7"/>
          <p:cNvSpPr txBox="1"/>
          <p:nvPr/>
        </p:nvSpPr>
        <p:spPr>
          <a:xfrm>
            <a:off x="7367499" y="3813275"/>
            <a:ext cx="3025437" cy="1015663"/>
          </a:xfrm>
          <a:prstGeom prst="rect">
            <a:avLst/>
          </a:prstGeom>
          <a:noFill/>
        </p:spPr>
        <p:txBody>
          <a:bodyPr wrap="square" rtlCol="0">
            <a:spAutoFit/>
          </a:bodyPr>
          <a:lstStyle/>
          <a:p>
            <a:r>
              <a:rPr lang="en-GB" sz="2000" b="1" dirty="0"/>
              <a:t>PRESENTED BY </a:t>
            </a:r>
          </a:p>
          <a:p>
            <a:endParaRPr lang="en-GB" sz="2000" b="1" dirty="0"/>
          </a:p>
          <a:p>
            <a:r>
              <a:rPr lang="en-GB" sz="2000" b="1" dirty="0"/>
              <a:t>SATHYANARRAYANAN</a:t>
            </a:r>
            <a:endParaRPr lang="en-IN" sz="2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90204" pitchFamily="34" charset="0"/>
                <a:cs typeface="Arial" panose="020B0604020202090204" pitchFamily="34" charset="0"/>
              </a:rPr>
              <a:t>OBJECTIVE</a:t>
            </a:r>
          </a:p>
        </p:txBody>
      </p:sp>
      <p:sp>
        <p:nvSpPr>
          <p:cNvPr id="9" name="Content Placeholder 2"/>
          <p:cNvSpPr txBox="1"/>
          <p:nvPr/>
        </p:nvSpPr>
        <p:spPr>
          <a:xfrm>
            <a:off x="769620" y="1131829"/>
            <a:ext cx="10663990" cy="971876"/>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GB" dirty="0">
                <a:latin typeface="Arial" panose="020B0604020202090204" pitchFamily="34" charset="0"/>
                <a:cs typeface="Arial" panose="020B0604020202090204" pitchFamily="34" charset="0"/>
              </a:rPr>
              <a:t>Analyse Netflix's content and customer viewing behaviour to derive business insights. </a:t>
            </a:r>
            <a:endParaRPr lang="en-US" dirty="0">
              <a:latin typeface="Arial" panose="020B0604020202090204" pitchFamily="34" charset="0"/>
              <a:cs typeface="Arial" panose="020B0604020202090204" pitchFamily="34" charset="0"/>
            </a:endParaRPr>
          </a:p>
        </p:txBody>
      </p:sp>
      <p:sp>
        <p:nvSpPr>
          <p:cNvPr id="10" name="Content Placeholder 2"/>
          <p:cNvSpPr txBox="1"/>
          <p:nvPr/>
        </p:nvSpPr>
        <p:spPr>
          <a:xfrm>
            <a:off x="769620" y="1931838"/>
            <a:ext cx="8731219" cy="3703044"/>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IN" dirty="0">
                <a:latin typeface="Arial" panose="020B0604020202090204" pitchFamily="34" charset="0"/>
              </a:rPr>
              <a:t>Key Deliverables:</a:t>
            </a:r>
          </a:p>
          <a:p>
            <a:pPr marL="285750" indent="-285750">
              <a:buFont typeface="Arial" panose="020B0604020202090204" pitchFamily="34" charset="0"/>
              <a:buChar char="•"/>
            </a:pPr>
            <a:r>
              <a:rPr lang="en-GB" dirty="0">
                <a:latin typeface="Arial" panose="020B0604020202090204" pitchFamily="34" charset="0"/>
                <a:cs typeface="Arial" panose="020B0604020202090204" pitchFamily="34" charset="0"/>
              </a:rPr>
              <a:t>Power BI Dashboard with interactive visuals. </a:t>
            </a:r>
          </a:p>
          <a:p>
            <a:pPr marL="285750" indent="-285750">
              <a:buFont typeface="Arial" panose="020B0604020202090204" pitchFamily="34" charset="0"/>
              <a:buChar char="•"/>
            </a:pPr>
            <a:r>
              <a:rPr lang="en-GB" dirty="0">
                <a:latin typeface="Arial" panose="020B0604020202090204" pitchFamily="34" charset="0"/>
                <a:cs typeface="Arial" panose="020B0604020202090204" pitchFamily="34" charset="0"/>
              </a:rPr>
              <a:t>Show Analysis.</a:t>
            </a:r>
          </a:p>
          <a:p>
            <a:pPr marL="285750" indent="-285750">
              <a:buFont typeface="Arial" panose="020B0604020202090204" pitchFamily="34" charset="0"/>
              <a:buChar char="•"/>
            </a:pPr>
            <a:r>
              <a:rPr lang="en-GB" dirty="0">
                <a:latin typeface="Arial" panose="020B0604020202090204" pitchFamily="34" charset="0"/>
                <a:cs typeface="Arial" panose="020B0604020202090204" pitchFamily="34" charset="0"/>
              </a:rPr>
              <a:t>Customer Analysis.</a:t>
            </a:r>
          </a:p>
          <a:p>
            <a:pPr marL="285750" indent="-285750">
              <a:buFont typeface="Arial" panose="020B0604020202090204" pitchFamily="34" charset="0"/>
              <a:buChar char="•"/>
            </a:pPr>
            <a:endParaRPr lang="en-GB" dirty="0">
              <a:latin typeface="Arial" panose="020B0604020202090204" pitchFamily="34" charset="0"/>
              <a:cs typeface="Arial" panose="020B0604020202090204" pitchFamily="34" charset="0"/>
            </a:endParaRPr>
          </a:p>
        </p:txBody>
      </p:sp>
      <p:pic>
        <p:nvPicPr>
          <p:cNvPr id="2050" name="Picture 2" descr="Sales Performance Stock Illustrations – 17,240 Sales Performance Stock  Illustrations, Vectors &amp; Clipart - Dreamstim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63414" y="2758087"/>
            <a:ext cx="3676804" cy="36768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txBox="1"/>
          <p:nvPr/>
        </p:nvSpPr>
        <p:spPr>
          <a:xfrm>
            <a:off x="769620" y="1265339"/>
            <a:ext cx="11162185" cy="5419941"/>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The data shows near-equal viewership distribution across 10 genres (all 9.7%-10.3%), with Romance  (10.3%) and Action (10.2%) slightly leading, while Animation (9.8%) and Comedy (9.7%) trail. This suggests no dominant genre preference, highlighting diverse audience tastes.	</a:t>
            </a:r>
            <a:r>
              <a:rPr lang="en-US" altLang="en-IN" b="0" i="0" u="none" strike="noStrike" baseline="0" dirty="0">
                <a:latin typeface="Arial" panose="020B0604020202090204" pitchFamily="34" charset="0"/>
                <a:cs typeface="Arial" panose="020B0604020202090204" pitchFamily="34" charset="0"/>
              </a:rPr>
              <a:t>	</a:t>
            </a:r>
          </a:p>
          <a:p>
            <a:pPr marL="285750" indent="-285750">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Recommendation: Highlight top performers (</a:t>
            </a:r>
            <a:r>
              <a:rPr lang="en-US" altLang="en-US" dirty="0">
                <a:latin typeface="Arial" panose="020B0604020202090204" pitchFamily="34" charset="0"/>
                <a:cs typeface="Arial" panose="020B0604020202090204" pitchFamily="34" charset="0"/>
              </a:rPr>
              <a:t>Romance </a:t>
            </a:r>
            <a:r>
              <a:rPr lang="en-US" altLang="en-US" b="0" i="0" u="none" strike="noStrike" baseline="0" dirty="0">
                <a:latin typeface="Arial" panose="020B0604020202090204" pitchFamily="34" charset="0"/>
                <a:cs typeface="Arial" panose="020B0604020202090204" pitchFamily="34" charset="0"/>
              </a:rPr>
              <a:t>/Action) in featured content slots to capitalize on mild preference. Boost with themed campaigns (e.g., "Romance Month") or genre-blended recommendations (e.g., "Action-Horror Picks").</a:t>
            </a:r>
          </a:p>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Solution: Create rotating spotlight pages for lesser-watched genres to drive discovery. Recommend "Sci-Fi + Comedy" pairings to expand viewership. </a:t>
            </a:r>
            <a:endParaRPr lang="en-GB" sz="1800" b="0" i="0" u="none" strike="noStrike" baseline="0" dirty="0">
              <a:latin typeface="Helvetica" pitchFamily="2" charset="0"/>
            </a:endParaRPr>
          </a:p>
        </p:txBody>
      </p:sp>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90204" pitchFamily="34" charset="0"/>
                <a:cs typeface="Arial" panose="020B0604020202090204" pitchFamily="34" charset="0"/>
              </a:rPr>
              <a:t>SHOWS BY GENRE</a:t>
            </a:r>
          </a:p>
        </p:txBody>
      </p:sp>
      <p:pic>
        <p:nvPicPr>
          <p:cNvPr id="3" name="Picture 2"/>
          <p:cNvPicPr>
            <a:picLocks noChangeAspect="1"/>
          </p:cNvPicPr>
          <p:nvPr/>
        </p:nvPicPr>
        <p:blipFill>
          <a:blip r:embed="rId2"/>
          <a:stretch>
            <a:fillRect/>
          </a:stretch>
        </p:blipFill>
        <p:spPr>
          <a:xfrm>
            <a:off x="5781732" y="3657601"/>
            <a:ext cx="6410268" cy="30276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txBox="1"/>
          <p:nvPr/>
        </p:nvSpPr>
        <p:spPr>
          <a:xfrm>
            <a:off x="769620" y="1265339"/>
            <a:ext cx="11162185" cy="5419941"/>
          </a:xfrm>
          <a:prstGeom prst="rect">
            <a:avLst/>
          </a:prstGeom>
          <a:ln>
            <a:solidFill>
              <a:schemeClr val="bg1"/>
            </a:solidFill>
          </a:ln>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The data displays total shows with numbers ranging from 222 to 330, alongside three years (1955, 1983, </a:t>
            </a:r>
            <a:r>
              <a:rPr lang="en-US" altLang="en-US" dirty="0">
                <a:latin typeface="Arial" panose="020B0604020202090204" pitchFamily="34" charset="0"/>
                <a:cs typeface="Arial" panose="020B0604020202090204" pitchFamily="34" charset="0"/>
              </a:rPr>
              <a:t> 2024</a:t>
            </a:r>
            <a:r>
              <a:rPr lang="en-US" altLang="en-US" b="0" i="0" u="none" strike="noStrike" baseline="0" dirty="0">
                <a:latin typeface="Arial" panose="020B0604020202090204" pitchFamily="34" charset="0"/>
                <a:cs typeface="Arial" panose="020B0604020202090204" pitchFamily="34" charset="0"/>
              </a:rPr>
              <a:t>) that may indicate production peaks or reference points. The wide range suggests variability in show output, with 330 as the highest count and 222 as the lowest.</a:t>
            </a:r>
            <a:r>
              <a:rPr lang="en-US" altLang="en-IN" b="0" i="0" u="none" strike="noStrike" baseline="0" dirty="0">
                <a:latin typeface="Arial" panose="020B0604020202090204" pitchFamily="34" charset="0"/>
                <a:cs typeface="Arial" panose="020B0604020202090204" pitchFamily="34" charset="0"/>
              </a:rPr>
              <a:t>	</a:t>
            </a:r>
          </a:p>
          <a:p>
            <a:pPr marL="285750" indent="-285750">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Recommendation: Analyze the years </a:t>
            </a:r>
            <a:r>
              <a:rPr lang="en-US" altLang="en-US" dirty="0">
                <a:latin typeface="Arial" panose="020B0604020202090204" pitchFamily="34" charset="0"/>
                <a:cs typeface="Arial" panose="020B0604020202090204" pitchFamily="34" charset="0"/>
              </a:rPr>
              <a:t>(1955, 1983,  2024) </a:t>
            </a:r>
            <a:r>
              <a:rPr lang="en-US" altLang="en-US" b="0" i="0" u="none" strike="noStrike" baseline="0" dirty="0">
                <a:latin typeface="Arial" panose="020B0604020202090204" pitchFamily="34" charset="0"/>
                <a:cs typeface="Arial" panose="020B0604020202090204" pitchFamily="34" charset="0"/>
              </a:rPr>
              <a:t>to identify trends were these periods of high production or significant industry changes. Investigate the outliers (330 and 222) to understand what drove higher or lower show counts.</a:t>
            </a:r>
          </a:p>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Solution: Compare show counts before/after key years (e.g., 1960, 2000) to spot patterns. Group shows by genre or format to see if certain types correlate with higher counts. Use historical data to predict future production needs and avoid over/under-supply.</a:t>
            </a:r>
          </a:p>
          <a:p>
            <a:pPr algn="l">
              <a:lnSpc>
                <a:spcPct val="100000"/>
              </a:lnSpc>
              <a:buFont typeface="Arial" panose="020B0604020202090204" pitchFamily="34" charset="0"/>
            </a:pPr>
            <a:endParaRPr lang="en-GB" sz="1800" b="0" i="0" u="none" strike="noStrike" baseline="0" dirty="0">
              <a:latin typeface="Helvetica" pitchFamily="2" charset="0"/>
            </a:endParaRPr>
          </a:p>
        </p:txBody>
      </p:sp>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90204" pitchFamily="34" charset="0"/>
                <a:cs typeface="Arial" panose="020B0604020202090204" pitchFamily="34" charset="0"/>
              </a:rPr>
              <a:t>SHOWS RELEASE (PER YEAR)</a:t>
            </a:r>
          </a:p>
        </p:txBody>
      </p:sp>
      <p:pic>
        <p:nvPicPr>
          <p:cNvPr id="6" name="Picture 5"/>
          <p:cNvPicPr>
            <a:picLocks noChangeAspect="1"/>
          </p:cNvPicPr>
          <p:nvPr/>
        </p:nvPicPr>
        <p:blipFill>
          <a:blip r:embed="rId2"/>
          <a:stretch>
            <a:fillRect/>
          </a:stretch>
        </p:blipFill>
        <p:spPr>
          <a:xfrm>
            <a:off x="2696845" y="4192905"/>
            <a:ext cx="9495155" cy="24923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txBox="1"/>
          <p:nvPr/>
        </p:nvSpPr>
        <p:spPr>
          <a:xfrm>
            <a:off x="769620" y="1265339"/>
            <a:ext cx="11162185" cy="5419941"/>
          </a:xfrm>
          <a:prstGeom prst="rect">
            <a:avLst/>
          </a:prstGeom>
          <a:ln>
            <a:solidFill>
              <a:schemeClr val="bg1"/>
            </a:solidFill>
          </a:ln>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Steady growth from 2020 (3,108 shows) to 2021 (4,096 shows). Consistent production volume maintained 2021-2025 (around 3,950 to 4,100 shows/year), 2021 marked a significant 32% increase from 2020.</a:t>
            </a:r>
          </a:p>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Recommendation: Investigate what drove the 2021 surge to replicate successful strategies. Maintain current production levels to meet demonstrated demand. Explore opportunities for controlled expansion beyond 4,100 shows/year.</a:t>
            </a:r>
          </a:p>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Solution: </a:t>
            </a:r>
            <a:r>
              <a:rPr lang="en-US" altLang="en-US" sz="1800" b="0" i="0" u="none" strike="noStrike" baseline="0" dirty="0">
                <a:latin typeface="Helvetica" pitchFamily="2" charset="0"/>
              </a:rPr>
              <a:t>Conduct 2021 success analysis (marketing, content mix, platform changes). Implement production optimization to sustain ~4,000 shows/year quality. </a:t>
            </a:r>
          </a:p>
        </p:txBody>
      </p:sp>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90204" pitchFamily="34" charset="0"/>
                <a:cs typeface="Arial" panose="020B0604020202090204" pitchFamily="34" charset="0"/>
              </a:rPr>
              <a:t>SHOWS ADDED BY YEAR</a:t>
            </a:r>
          </a:p>
        </p:txBody>
      </p:sp>
      <p:pic>
        <p:nvPicPr>
          <p:cNvPr id="3" name="Picture 2"/>
          <p:cNvPicPr>
            <a:picLocks noChangeAspect="1"/>
          </p:cNvPicPr>
          <p:nvPr/>
        </p:nvPicPr>
        <p:blipFill>
          <a:blip r:embed="rId2"/>
          <a:stretch>
            <a:fillRect/>
          </a:stretch>
        </p:blipFill>
        <p:spPr>
          <a:xfrm>
            <a:off x="5004435" y="3710305"/>
            <a:ext cx="7187565" cy="29749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txBox="1"/>
          <p:nvPr/>
        </p:nvSpPr>
        <p:spPr>
          <a:xfrm>
            <a:off x="769620" y="1265339"/>
            <a:ext cx="11162185" cy="5419941"/>
          </a:xfrm>
          <a:prstGeom prst="rect">
            <a:avLst/>
          </a:prstGeom>
          <a:ln>
            <a:solidFill>
              <a:schemeClr val="bg1"/>
            </a:solidFill>
          </a:ln>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Most shows are rated TV-Y7, indicating a large portion of Netflix content is meant for mature audiences. TV-Y and G follow, showing some family-appropriate content.</a:t>
            </a:r>
            <a:r>
              <a:rPr lang="en-US" altLang="en-IN" b="0" i="0" u="none" strike="noStrike" baseline="0" dirty="0">
                <a:latin typeface="Arial" panose="020B0604020202090204" pitchFamily="34" charset="0"/>
                <a:cs typeface="Arial" panose="020B0604020202090204" pitchFamily="34" charset="0"/>
              </a:rPr>
              <a:t>	</a:t>
            </a:r>
          </a:p>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Recommendation: Focus on popular ratings (like PG-13 and TV-14) to attract younger audiences. Reuse older high-rated content (like G or PG) for family-friendly streaming.</a:t>
            </a:r>
          </a:p>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Solution: Use AI to recommend shows based on ratings, remaster classic hits, and analyze trends to decide what new content to produce. This will boost viewer engagement and subscriptions.</a:t>
            </a:r>
          </a:p>
          <a:p>
            <a:pPr algn="l">
              <a:lnSpc>
                <a:spcPct val="100000"/>
              </a:lnSpc>
              <a:buFont typeface="Arial" panose="020B0604020202090204" pitchFamily="34" charset="0"/>
            </a:pPr>
            <a:endParaRPr lang="en-GB" sz="1800" b="0" i="0" u="none" strike="noStrike" baseline="0" dirty="0">
              <a:latin typeface="Helvetica" pitchFamily="2" charset="0"/>
            </a:endParaRPr>
          </a:p>
        </p:txBody>
      </p:sp>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90204" pitchFamily="34" charset="0"/>
                <a:cs typeface="Arial" panose="020B0604020202090204" pitchFamily="34" charset="0"/>
              </a:rPr>
              <a:t>COUNT OF SHOWS BY RATING</a:t>
            </a:r>
          </a:p>
        </p:txBody>
      </p:sp>
      <p:pic>
        <p:nvPicPr>
          <p:cNvPr id="6" name="Picture 5"/>
          <p:cNvPicPr>
            <a:picLocks noChangeAspect="1"/>
          </p:cNvPicPr>
          <p:nvPr/>
        </p:nvPicPr>
        <p:blipFill>
          <a:blip r:embed="rId2"/>
          <a:stretch>
            <a:fillRect/>
          </a:stretch>
        </p:blipFill>
        <p:spPr>
          <a:xfrm>
            <a:off x="5680710" y="3272155"/>
            <a:ext cx="6511290" cy="34131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769620" y="1265339"/>
            <a:ext cx="11162185" cy="5419941"/>
          </a:xfrm>
          <a:prstGeom prst="rect">
            <a:avLst/>
          </a:prstGeom>
          <a:ln>
            <a:solidFill>
              <a:schemeClr val="bg1"/>
            </a:solidFill>
          </a:ln>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Nearly equal split among Standard (6,856), Basic (6,595), and Premium (6,549) tiers, indicating no strong customer preference for higher-tier plans. Balanced across Male (33.59%), Female (33.</a:t>
            </a:r>
            <a:r>
              <a:rPr lang="en-US" altLang="en-US" dirty="0">
                <a:latin typeface="Arial" panose="020B0604020202090204" pitchFamily="34" charset="0"/>
                <a:cs typeface="Arial" panose="020B0604020202090204" pitchFamily="34" charset="0"/>
              </a:rPr>
              <a:t>29</a:t>
            </a:r>
            <a:r>
              <a:rPr lang="en-US" altLang="en-US" b="0" i="0" u="none" strike="noStrike" baseline="0" dirty="0">
                <a:latin typeface="Arial" panose="020B0604020202090204" pitchFamily="34" charset="0"/>
                <a:cs typeface="Arial" panose="020B0604020202090204" pitchFamily="34" charset="0"/>
              </a:rPr>
              <a:t>%), and Other (33.13%), suggesting broad appeal but no gender-based skew in subscriptions.</a:t>
            </a:r>
          </a:p>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Recommendation: Test incentives (e.g., "Premium for all: 1-month free trial") to boost upgrades uniformly across genders. Use gender-specific engagement data (e.g., Female users prefer Feature X) to tailor tier-promotion messaging.</a:t>
            </a:r>
          </a:p>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Solution: </a:t>
            </a:r>
            <a:r>
              <a:rPr lang="en-US" altLang="en-US" sz="1800" b="0" i="0" u="none" strike="noStrike" baseline="0" dirty="0">
                <a:latin typeface="Helvetica" pitchFamily="2" charset="0"/>
              </a:rPr>
              <a:t>Segment subscription counts by gender (e.g., "How many Female users choose Premium?") to identify hidden patterns. If data shows Male users dominate Basic plans, create ads highlighting Premium features aligned with their usage (e.g., "Male-focused: Unlock advanced analytics"). </a:t>
            </a:r>
          </a:p>
        </p:txBody>
      </p:sp>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90204" pitchFamily="34" charset="0"/>
                <a:cs typeface="Arial" panose="020B0604020202090204" pitchFamily="34" charset="0"/>
              </a:rPr>
              <a:t>CUSTOMER &amp; SUBSCRIPTION ANALYSIS</a:t>
            </a:r>
          </a:p>
        </p:txBody>
      </p:sp>
      <p:pic>
        <p:nvPicPr>
          <p:cNvPr id="3" name="Picture 2"/>
          <p:cNvPicPr>
            <a:picLocks noChangeAspect="1"/>
          </p:cNvPicPr>
          <p:nvPr/>
        </p:nvPicPr>
        <p:blipFill>
          <a:blip r:embed="rId2"/>
          <a:stretch>
            <a:fillRect/>
          </a:stretch>
        </p:blipFill>
        <p:spPr>
          <a:xfrm>
            <a:off x="3752215" y="4231640"/>
            <a:ext cx="3947160" cy="2453640"/>
          </a:xfrm>
          <a:prstGeom prst="rect">
            <a:avLst/>
          </a:prstGeom>
        </p:spPr>
      </p:pic>
      <p:pic>
        <p:nvPicPr>
          <p:cNvPr id="9" name="Picture 8"/>
          <p:cNvPicPr>
            <a:picLocks noChangeAspect="1"/>
          </p:cNvPicPr>
          <p:nvPr/>
        </p:nvPicPr>
        <p:blipFill>
          <a:blip r:embed="rId3"/>
          <a:stretch>
            <a:fillRect/>
          </a:stretch>
        </p:blipFill>
        <p:spPr>
          <a:xfrm>
            <a:off x="7926070" y="4298315"/>
            <a:ext cx="4265930" cy="23869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90204" pitchFamily="34" charset="0"/>
                <a:cs typeface="Arial" panose="020B0604020202090204" pitchFamily="34" charset="0"/>
              </a:rPr>
              <a:t>CUSTOMER &amp; SUBSCRIPTION ANALYSIS</a:t>
            </a:r>
          </a:p>
        </p:txBody>
      </p:sp>
      <p:pic>
        <p:nvPicPr>
          <p:cNvPr id="6" name="Picture 5"/>
          <p:cNvPicPr>
            <a:picLocks noChangeAspect="1"/>
          </p:cNvPicPr>
          <p:nvPr/>
        </p:nvPicPr>
        <p:blipFill>
          <a:blip r:embed="rId2"/>
          <a:stretch>
            <a:fillRect/>
          </a:stretch>
        </p:blipFill>
        <p:spPr>
          <a:xfrm>
            <a:off x="769620" y="1466850"/>
            <a:ext cx="10948035" cy="42818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769620" y="1265339"/>
            <a:ext cx="11162185" cy="5419941"/>
          </a:xfrm>
          <a:prstGeom prst="rect">
            <a:avLst/>
          </a:prstGeom>
          <a:ln>
            <a:solidFill>
              <a:schemeClr val="bg1"/>
            </a:solidFill>
          </a:ln>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Standard plan dominates in 9/10 countries (34-35% share), while Premium leads only in Brazil (34.23%). Basic and Premium adoption is nearly equal globally (32-33%), with slight variations - Basic underperforms in Australia/South Korea (&lt;32%), and Canada shows the most balanced distribution (33-34% across all plans).</a:t>
            </a:r>
          </a:p>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Recommendation: Promote Standard as the flagship plan in most markets while targeting Brazil with Premium focused campaigns. Boost Basic adoption in low performing countries (e.g., Australia/South Korea) with discounts or added features.</a:t>
            </a:r>
          </a:p>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Solution: </a:t>
            </a:r>
            <a:r>
              <a:rPr lang="en-US" altLang="en-US" sz="1800" b="0" i="0" u="none" strike="noStrike" baseline="0" dirty="0">
                <a:latin typeface="Helvetica" pitchFamily="2" charset="0"/>
              </a:rPr>
              <a:t>Lower Premium costs in Australia/South Korea and highlight Premium perks in Brazil. Add region specific benefits (e.g., local content in Standard for European markets). Label Standard as "Most Popular" in 9 countries but test Premium upsell tactics in Brazil.</a:t>
            </a:r>
          </a:p>
        </p:txBody>
      </p:sp>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90204" pitchFamily="34" charset="0"/>
                <a:cs typeface="Arial" panose="020B0604020202090204" pitchFamily="34" charset="0"/>
              </a:rPr>
              <a:t>CUSTOMER &amp; SUBSCRIPTION ANALYSIS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90204" pitchFamily="34" charset="0"/>
                <a:cs typeface="Arial" panose="020B0604020202090204" pitchFamily="34" charset="0"/>
              </a:rPr>
              <a:t>CUSTOMER AGE GROUP</a:t>
            </a:r>
          </a:p>
        </p:txBody>
      </p:sp>
      <p:pic>
        <p:nvPicPr>
          <p:cNvPr id="3" name="Picture 2"/>
          <p:cNvPicPr>
            <a:picLocks noChangeAspect="1"/>
          </p:cNvPicPr>
          <p:nvPr/>
        </p:nvPicPr>
        <p:blipFill>
          <a:blip r:embed="rId2"/>
          <a:stretch>
            <a:fillRect/>
          </a:stretch>
        </p:blipFill>
        <p:spPr>
          <a:xfrm>
            <a:off x="7646035" y="4574540"/>
            <a:ext cx="4545965" cy="2110740"/>
          </a:xfrm>
          <a:prstGeom prst="rect">
            <a:avLst/>
          </a:prstGeom>
        </p:spPr>
      </p:pic>
      <p:sp>
        <p:nvSpPr>
          <p:cNvPr id="2" name="Content Placeholder 2"/>
          <p:cNvSpPr txBox="1"/>
          <p:nvPr/>
        </p:nvSpPr>
        <p:spPr>
          <a:xfrm>
            <a:off x="769620" y="1265339"/>
            <a:ext cx="11162185" cy="5419941"/>
          </a:xfrm>
          <a:prstGeom prst="rect">
            <a:avLst/>
          </a:prstGeom>
          <a:ln>
            <a:solidFill>
              <a:schemeClr val="bg1"/>
            </a:solidFill>
          </a:ln>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Customer distribution across age groups, with the highest counts in 60+ (5,926) and 46-60 (4,411) segments, followed by 31-45 (</a:t>
            </a:r>
            <a:r>
              <a:rPr lang="en-US" altLang="en-US" dirty="0">
                <a:latin typeface="Arial" panose="020B0604020202090204" pitchFamily="34" charset="0"/>
                <a:cs typeface="Arial" panose="020B0604020202090204" pitchFamily="34" charset="0"/>
              </a:rPr>
              <a:t>4,394</a:t>
            </a:r>
            <a:r>
              <a:rPr lang="en-US" altLang="en-US" b="0" i="0" u="none" strike="noStrike" baseline="0" dirty="0">
                <a:latin typeface="Arial" panose="020B0604020202090204" pitchFamily="34" charset="0"/>
                <a:cs typeface="Arial" panose="020B0604020202090204" pitchFamily="34" charset="0"/>
              </a:rPr>
              <a:t>). Younger groups (</a:t>
            </a:r>
            <a:r>
              <a:rPr lang="en-US" altLang="en-US" dirty="0">
                <a:latin typeface="Arial" panose="020B0604020202090204" pitchFamily="34" charset="0"/>
                <a:cs typeface="Arial" panose="020B0604020202090204" pitchFamily="34" charset="0"/>
              </a:rPr>
              <a:t>13</a:t>
            </a:r>
            <a:r>
              <a:rPr lang="en-US" altLang="en-US" b="0" i="0" u="none" strike="noStrike" baseline="0" dirty="0">
                <a:latin typeface="Arial" panose="020B0604020202090204" pitchFamily="34" charset="0"/>
                <a:cs typeface="Arial" panose="020B0604020202090204" pitchFamily="34" charset="0"/>
              </a:rPr>
              <a:t>-18: </a:t>
            </a:r>
            <a:r>
              <a:rPr lang="en-US" altLang="en-US" dirty="0">
                <a:latin typeface="Arial" panose="020B0604020202090204" pitchFamily="34" charset="0"/>
                <a:cs typeface="Arial" panose="020B0604020202090204" pitchFamily="34" charset="0"/>
              </a:rPr>
              <a:t>1,746</a:t>
            </a:r>
            <a:r>
              <a:rPr lang="en-US" altLang="en-US" b="0" i="0" u="none" strike="noStrike" baseline="0" dirty="0">
                <a:latin typeface="Arial" panose="020B0604020202090204" pitchFamily="34" charset="0"/>
                <a:cs typeface="Arial" panose="020B0604020202090204" pitchFamily="34" charset="0"/>
              </a:rPr>
              <a:t> &amp; 19-30: 3,523) have significantly lower representation.</a:t>
            </a:r>
          </a:p>
          <a:p>
            <a:pPr marL="285750" indent="-285750">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Recommendation: Target high-engagement groups (</a:t>
            </a:r>
            <a:r>
              <a:rPr lang="en-US" altLang="en-US" dirty="0">
                <a:latin typeface="Arial" panose="020B0604020202090204" pitchFamily="34" charset="0"/>
                <a:cs typeface="Arial" panose="020B0604020202090204" pitchFamily="34" charset="0"/>
              </a:rPr>
              <a:t>60+</a:t>
            </a:r>
            <a:r>
              <a:rPr lang="en-US" altLang="en-US" b="0" i="0" u="none" strike="noStrike" baseline="0" dirty="0">
                <a:latin typeface="Arial" panose="020B0604020202090204" pitchFamily="34" charset="0"/>
                <a:cs typeface="Arial" panose="020B0604020202090204" pitchFamily="34" charset="0"/>
              </a:rPr>
              <a:t>, </a:t>
            </a:r>
            <a:r>
              <a:rPr lang="en-US" altLang="en-US" dirty="0">
                <a:latin typeface="Arial" panose="020B0604020202090204" pitchFamily="34" charset="0"/>
                <a:cs typeface="Arial" panose="020B0604020202090204" pitchFamily="34" charset="0"/>
              </a:rPr>
              <a:t>46-60</a:t>
            </a:r>
            <a:r>
              <a:rPr lang="en-US" altLang="en-US" b="0" i="0" u="none" strike="noStrike" baseline="0" dirty="0">
                <a:latin typeface="Arial" panose="020B0604020202090204" pitchFamily="34" charset="0"/>
                <a:cs typeface="Arial" panose="020B0604020202090204" pitchFamily="34" charset="0"/>
              </a:rPr>
              <a:t>) with tailored offers to maximize retention. Develop strategies to attract younger groups (</a:t>
            </a:r>
            <a:r>
              <a:rPr lang="en-US" altLang="en-US" dirty="0">
                <a:latin typeface="Arial" panose="020B0604020202090204" pitchFamily="34" charset="0"/>
                <a:cs typeface="Arial" panose="020B0604020202090204" pitchFamily="34" charset="0"/>
              </a:rPr>
              <a:t>13-18, 19-30</a:t>
            </a:r>
            <a:r>
              <a:rPr lang="en-US" altLang="en-US" b="0" i="0" u="none" strike="noStrike" baseline="0" dirty="0">
                <a:latin typeface="Arial" panose="020B0604020202090204" pitchFamily="34" charset="0"/>
                <a:cs typeface="Arial" panose="020B0604020202090204" pitchFamily="34" charset="0"/>
              </a:rPr>
              <a:t>) through specialized campaigns or products.</a:t>
            </a:r>
          </a:p>
          <a:p>
            <a:pPr marL="285750" indent="-285750" algn="l">
              <a:lnSpc>
                <a:spcPct val="100000"/>
              </a:lnSpc>
              <a:buFont typeface="Arial" panose="020B0604020202090204" pitchFamily="34" charset="0"/>
              <a:buChar char="•"/>
            </a:pPr>
            <a:r>
              <a:rPr lang="en-US" altLang="en-US" b="0" i="0" u="none" strike="noStrike" baseline="0" dirty="0">
                <a:latin typeface="Arial" panose="020B0604020202090204" pitchFamily="34" charset="0"/>
                <a:cs typeface="Arial" panose="020B0604020202090204" pitchFamily="34" charset="0"/>
              </a:rPr>
              <a:t>Solution: </a:t>
            </a:r>
            <a:r>
              <a:rPr lang="en-US" altLang="en-US" sz="1800" b="0" i="0" u="none" strike="noStrike" baseline="0" dirty="0">
                <a:latin typeface="Helvetica" pitchFamily="2" charset="0"/>
              </a:rPr>
              <a:t>Create age-specific promotions (e.g., discounts for 13-18, loyalty programs for 31-45). Introduce features or services appealing to older users (e.g., accessibility options for 60+). Investigate why younger groups are underrepresented and adjust outreach accordingly.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769620" y="1265339"/>
            <a:ext cx="11162185" cy="5419941"/>
          </a:xfrm>
          <a:prstGeom prst="rect">
            <a:avLst/>
          </a:prstGeom>
          <a:ln>
            <a:solidFill>
              <a:schemeClr val="bg1"/>
            </a:solidFill>
          </a:ln>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gn="l">
              <a:lnSpc>
                <a:spcPct val="100000"/>
              </a:lnSpc>
              <a:buFont typeface="Arial" panose="020B0604020202090204" pitchFamily="34" charset="0"/>
              <a:buChar char="•"/>
            </a:pPr>
            <a:r>
              <a:rPr lang="en-US" altLang="en-US" sz="1800" b="0" i="0" u="none" strike="noStrike" baseline="0" dirty="0">
                <a:latin typeface="Helvetica" pitchFamily="2" charset="0"/>
              </a:rPr>
              <a:t>The data displays customer counts across 10 countries, with France (2,109) and India (2,064) having the highest numbers, while South Korea (1,924) and UK (1,946) show the lowest. The USA, Brazil and others fall in between (1,946-2,007), indicating even market penetration.</a:t>
            </a:r>
          </a:p>
          <a:p>
            <a:pPr marL="285750" indent="-285750" algn="l">
              <a:lnSpc>
                <a:spcPct val="100000"/>
              </a:lnSpc>
              <a:buFont typeface="Arial" panose="020B0604020202090204" pitchFamily="34" charset="0"/>
              <a:buChar char="•"/>
            </a:pPr>
            <a:r>
              <a:rPr lang="en-US" altLang="en-US" sz="1800" b="0" i="0" u="none" strike="noStrike" baseline="0" dirty="0">
                <a:latin typeface="Helvetica" pitchFamily="2" charset="0"/>
              </a:rPr>
              <a:t>Recommendation: Strengthen presence in high-potential markets (France, India) with localized campaigns. Boost engagement in underperforming regions (South Korea, UK, Brazil) through targeted promotions or partnerships.</a:t>
            </a:r>
          </a:p>
          <a:p>
            <a:pPr marL="285750" indent="-285750" algn="l">
              <a:lnSpc>
                <a:spcPct val="100000"/>
              </a:lnSpc>
              <a:buFont typeface="Arial" panose="020B0604020202090204" pitchFamily="34" charset="0"/>
              <a:buChar char="•"/>
            </a:pPr>
            <a:r>
              <a:rPr lang="en-US" altLang="en-US" sz="1800" b="0" i="0" u="none" strike="noStrike" baseline="0" dirty="0">
                <a:latin typeface="Helvetica" pitchFamily="2" charset="0"/>
              </a:rPr>
              <a:t>Solution: Customize offerings for top markets (e.g., language support in India, cultural relevance in France). Introduce referral programs or discounts in low count countries (e.g., Brazil, UK, South Korea). </a:t>
            </a:r>
          </a:p>
        </p:txBody>
      </p:sp>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90204" pitchFamily="34" charset="0"/>
                <a:cs typeface="Arial" panose="020B0604020202090204" pitchFamily="34" charset="0"/>
              </a:rPr>
              <a:t>CUSTOMER COUNT BY COUNTRY</a:t>
            </a:r>
          </a:p>
        </p:txBody>
      </p:sp>
      <p:pic>
        <p:nvPicPr>
          <p:cNvPr id="6" name="Picture 5"/>
          <p:cNvPicPr>
            <a:picLocks noChangeAspect="1"/>
          </p:cNvPicPr>
          <p:nvPr/>
        </p:nvPicPr>
        <p:blipFill>
          <a:blip r:embed="rId2"/>
          <a:stretch>
            <a:fillRect/>
          </a:stretch>
        </p:blipFill>
        <p:spPr>
          <a:xfrm>
            <a:off x="8505825" y="4232910"/>
            <a:ext cx="3686175" cy="24523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769620" y="1265339"/>
            <a:ext cx="11162185" cy="5419941"/>
          </a:xfrm>
          <a:prstGeom prst="rect">
            <a:avLst/>
          </a:prstGeom>
          <a:ln>
            <a:solidFill>
              <a:schemeClr val="bg1"/>
            </a:solidFill>
          </a:ln>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gn="l">
              <a:lnSpc>
                <a:spcPct val="100000"/>
              </a:lnSpc>
              <a:buFont typeface="Arial" panose="020B0604020202090204" pitchFamily="34" charset="0"/>
              <a:buChar char="•"/>
            </a:pPr>
            <a:r>
              <a:rPr lang="en-US" altLang="en-US" sz="1800" b="0" i="0" u="none" strike="noStrike" baseline="0" dirty="0">
                <a:latin typeface="Helvetica" pitchFamily="2" charset="0"/>
              </a:rPr>
              <a:t>Customer distribution across age groups and genders, with Highest representation in 60+ age group (peaking at 15M). Significant numbers in 31-45 and 46-60 groups (3-5M range). </a:t>
            </a:r>
          </a:p>
          <a:p>
            <a:pPr marL="285750" indent="-285750" algn="l">
              <a:lnSpc>
                <a:spcPct val="100000"/>
              </a:lnSpc>
              <a:buFont typeface="Arial" panose="020B0604020202090204" pitchFamily="34" charset="0"/>
              <a:buChar char="•"/>
            </a:pPr>
            <a:r>
              <a:rPr lang="en-US" altLang="en-US" sz="1800" b="0" i="0" u="none" strike="noStrike" baseline="0" dirty="0">
                <a:latin typeface="Helvetica" pitchFamily="2" charset="0"/>
              </a:rPr>
              <a:t>Recommendation: Focus retention efforts on the large 60+ customer segment. Develop targeted products/services for the substantial middle aged &amp; younger demographics (</a:t>
            </a:r>
            <a:r>
              <a:rPr lang="en-US" altLang="en-US" dirty="0">
                <a:latin typeface="Helvetica" pitchFamily="2" charset="0"/>
              </a:rPr>
              <a:t>13</a:t>
            </a:r>
            <a:r>
              <a:rPr lang="en-US" altLang="en-US" sz="1800" b="0" i="0" u="none" strike="noStrike" baseline="0" dirty="0">
                <a:latin typeface="Helvetica" pitchFamily="2" charset="0"/>
              </a:rPr>
              <a:t>-60).</a:t>
            </a:r>
          </a:p>
          <a:p>
            <a:pPr marL="285750" indent="-285750" algn="l">
              <a:lnSpc>
                <a:spcPct val="100000"/>
              </a:lnSpc>
              <a:buFont typeface="Arial" panose="020B0604020202090204" pitchFamily="34" charset="0"/>
              <a:buChar char="•"/>
            </a:pPr>
            <a:r>
              <a:rPr lang="en-US" altLang="en-US" sz="1800" b="0" i="0" u="none" strike="noStrike" baseline="0" dirty="0">
                <a:latin typeface="Helvetica" pitchFamily="2" charset="0"/>
              </a:rPr>
              <a:t>Solution: Create age specific loyalty programs (especially for 60+ segment). Launch marketing campaigns tailored to 13-30 age groups needs.</a:t>
            </a:r>
          </a:p>
        </p:txBody>
      </p:sp>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90204" pitchFamily="34" charset="0"/>
                <a:cs typeface="Arial" panose="020B0604020202090204" pitchFamily="34" charset="0"/>
              </a:rPr>
              <a:t>WATCH TIME BY GENDER &amp; AGE GROUP</a:t>
            </a:r>
          </a:p>
        </p:txBody>
      </p:sp>
      <p:pic>
        <p:nvPicPr>
          <p:cNvPr id="3" name="Picture 2"/>
          <p:cNvPicPr>
            <a:picLocks noChangeAspect="1"/>
          </p:cNvPicPr>
          <p:nvPr/>
        </p:nvPicPr>
        <p:blipFill>
          <a:blip r:embed="rId2"/>
          <a:stretch>
            <a:fillRect/>
          </a:stretch>
        </p:blipFill>
        <p:spPr>
          <a:xfrm>
            <a:off x="362585" y="4509135"/>
            <a:ext cx="11829415" cy="21761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769620" y="1265339"/>
            <a:ext cx="11162185" cy="5419941"/>
          </a:xfrm>
          <a:prstGeom prst="rect">
            <a:avLst/>
          </a:prstGeom>
          <a:ln>
            <a:solidFill>
              <a:schemeClr val="bg1"/>
            </a:solidFill>
          </a:ln>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gn="l">
              <a:lnSpc>
                <a:spcPct val="100000"/>
              </a:lnSpc>
              <a:buFont typeface="Arial" panose="020B0604020202090204" pitchFamily="34" charset="0"/>
              <a:buChar char="•"/>
            </a:pPr>
            <a:r>
              <a:rPr lang="en-US" altLang="en-US" sz="1800" b="0" i="0" u="none" strike="noStrike" baseline="0" dirty="0">
                <a:latin typeface="Helvetica" pitchFamily="2" charset="0"/>
              </a:rPr>
              <a:t>Subscription plan distribution across age groups, Older customers (60+) prefer Standard plans (2,026) over Basic/Premium, Younger groups (13-30) show balanced plan adoption. Standard plans lead in every age category.</a:t>
            </a:r>
          </a:p>
          <a:p>
            <a:pPr marL="285750" indent="-285750" algn="l">
              <a:lnSpc>
                <a:spcPct val="100000"/>
              </a:lnSpc>
              <a:buFont typeface="Arial" panose="020B0604020202090204" pitchFamily="34" charset="0"/>
              <a:buChar char="•"/>
            </a:pPr>
            <a:r>
              <a:rPr lang="en-US" altLang="en-US" sz="1800" b="0" i="0" u="none" strike="noStrike" baseline="0" dirty="0">
                <a:latin typeface="Helvetica" pitchFamily="2" charset="0"/>
              </a:rPr>
              <a:t>Recommendation: Develop premium features targeting older demographics (60+), create youth-focused Basic plan bundles (13-30 age groups). Highlight Standard plan benefits across all marketing.</a:t>
            </a:r>
          </a:p>
          <a:p>
            <a:pPr marL="285750" indent="-285750" algn="l">
              <a:lnSpc>
                <a:spcPct val="100000"/>
              </a:lnSpc>
              <a:buFont typeface="Arial" panose="020B0604020202090204" pitchFamily="34" charset="0"/>
              <a:buChar char="•"/>
            </a:pPr>
            <a:r>
              <a:rPr lang="en-US" altLang="en-US" sz="1800" b="0" i="0" u="none" strike="noStrike" baseline="0" dirty="0">
                <a:latin typeface="Helvetica" pitchFamily="2" charset="0"/>
              </a:rPr>
              <a:t>Solution: Launch "Silver Premium" tier with senior friendly features. Introduce student discounts for Basic plans and use age based plan recommendations in onboarding flows.</a:t>
            </a:r>
          </a:p>
        </p:txBody>
      </p:sp>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90204" pitchFamily="34" charset="0"/>
                <a:cs typeface="Arial" panose="020B0604020202090204" pitchFamily="34" charset="0"/>
              </a:rPr>
              <a:t>SUBSCRIPTION ANALYSIS</a:t>
            </a:r>
          </a:p>
        </p:txBody>
      </p:sp>
      <p:pic>
        <p:nvPicPr>
          <p:cNvPr id="6" name="Picture 5"/>
          <p:cNvPicPr>
            <a:picLocks noChangeAspect="1"/>
          </p:cNvPicPr>
          <p:nvPr/>
        </p:nvPicPr>
        <p:blipFill>
          <a:blip r:embed="rId2"/>
          <a:stretch>
            <a:fillRect/>
          </a:stretch>
        </p:blipFill>
        <p:spPr>
          <a:xfrm>
            <a:off x="7407910" y="4160520"/>
            <a:ext cx="4784090" cy="25247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769620" y="1265339"/>
            <a:ext cx="11162185" cy="5419941"/>
          </a:xfrm>
          <a:prstGeom prst="rect">
            <a:avLst/>
          </a:prstGeom>
          <a:ln>
            <a:solidFill>
              <a:schemeClr val="bg1"/>
            </a:solidFill>
          </a:ln>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gn="l">
              <a:lnSpc>
                <a:spcPct val="100000"/>
              </a:lnSpc>
              <a:buFont typeface="Arial" panose="020B0604020202090204" pitchFamily="34" charset="0"/>
              <a:buChar char="•"/>
            </a:pPr>
            <a:r>
              <a:rPr lang="en-US" altLang="en-US" sz="1800" b="0" i="0" u="none" strike="noStrike" baseline="0" dirty="0">
                <a:latin typeface="Helvetica" pitchFamily="2" charset="0"/>
              </a:rPr>
              <a:t>Customer preferences across 10 movie/TV genres, with near-equal distribution (9.3%-10.7%). Romance (10.7%) and Action (10.5%) lead slightly, while Animation (9.3%) and Comedy (9.5%) trail marginally. No genre dominates, indicating diverse viewer tastes.</a:t>
            </a:r>
          </a:p>
          <a:p>
            <a:pPr marL="285750" indent="-285750" algn="l">
              <a:lnSpc>
                <a:spcPct val="100000"/>
              </a:lnSpc>
              <a:buFont typeface="Arial" panose="020B0604020202090204" pitchFamily="34" charset="0"/>
              <a:buChar char="•"/>
            </a:pPr>
            <a:r>
              <a:rPr lang="en-US" altLang="en-US" sz="1800" b="0" i="0" u="none" strike="noStrike" baseline="0" dirty="0">
                <a:latin typeface="Helvetica" pitchFamily="2" charset="0"/>
              </a:rPr>
              <a:t>Recommendation: Boost Comedy/Animation with curated collections or cross genre promotions (e.g., "Romantic Comedies"). Leverage top genres (Romance/Action) for featured content slots or original productions.</a:t>
            </a:r>
          </a:p>
          <a:p>
            <a:pPr marL="285750" indent="-285750" algn="l">
              <a:lnSpc>
                <a:spcPct val="100000"/>
              </a:lnSpc>
              <a:buFont typeface="Arial" panose="020B0604020202090204" pitchFamily="34" charset="0"/>
              <a:buChar char="•"/>
            </a:pPr>
            <a:r>
              <a:rPr lang="en-US" altLang="en-US" sz="1800" b="0" i="0" u="none" strike="noStrike" baseline="0" dirty="0">
                <a:latin typeface="Helvetica" pitchFamily="2" charset="0"/>
              </a:rPr>
              <a:t>Solution: Pair popular (Romance) with lesser watched (Comedy) in recommendations. Genre based campaigns like "Action Week" or "Comedy Spotlight" to drive engagement. Invest in underrepresented genres if supply doesn’t match demand.</a:t>
            </a:r>
          </a:p>
        </p:txBody>
      </p:sp>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90204" pitchFamily="34" charset="0"/>
                <a:cs typeface="Arial" panose="020B0604020202090204" pitchFamily="34" charset="0"/>
              </a:rPr>
              <a:t>WATCH TIME BY GENRE</a:t>
            </a:r>
          </a:p>
        </p:txBody>
      </p:sp>
      <p:pic>
        <p:nvPicPr>
          <p:cNvPr id="3" name="Picture 2"/>
          <p:cNvPicPr>
            <a:picLocks noChangeAspect="1"/>
          </p:cNvPicPr>
          <p:nvPr/>
        </p:nvPicPr>
        <p:blipFill>
          <a:blip r:embed="rId2"/>
          <a:stretch>
            <a:fillRect/>
          </a:stretch>
        </p:blipFill>
        <p:spPr>
          <a:xfrm>
            <a:off x="7579360" y="4309745"/>
            <a:ext cx="4612640" cy="22694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1435</Words>
  <Application>Microsoft Office PowerPoint</Application>
  <PresentationFormat>Widescreen</PresentationFormat>
  <Paragraphs>55</Paragraphs>
  <Slides>14</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Aptos</vt:lpstr>
      <vt:lpstr>Aptos Display</vt:lpstr>
      <vt:lpstr>Arial</vt:lpstr>
      <vt:lpstr>Helvetica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75</cp:revision>
  <dcterms:created xsi:type="dcterms:W3CDTF">2025-06-10T16:49:54Z</dcterms:created>
  <dcterms:modified xsi:type="dcterms:W3CDTF">2025-06-11T09:16:20Z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0876263DB20E56FB31534868629DD8A2_42</vt:lpwstr>
  </property>
  <property fmtid="{D5CDD505-2E9C-101B-9397-08002B2CF9AE}" pid="3" name="KSOProductBuildVer">
    <vt:lpwstr>1033-6.14.0.8718</vt:lpwstr>
  </property>
</Properties>
</file>